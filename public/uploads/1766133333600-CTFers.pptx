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14"/>
  </p:handoutMasterIdLst>
  <p:sldIdLst>
    <p:sldId id="256" r:id="rId3"/>
    <p:sldId id="257" r:id="rId4"/>
    <p:sldId id="260" r:id="rId5"/>
    <p:sldId id="258" r:id="rId6"/>
    <p:sldId id="259" r:id="rId8"/>
    <p:sldId id="261" r:id="rId9"/>
    <p:sldId id="265" r:id="rId10"/>
    <p:sldId id="264" r:id="rId11"/>
    <p:sldId id="267" r:id="rId12"/>
    <p:sldId id="266" r:id="rId1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AICRYPTO</a:t>
            </a: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, 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4000"/>
              <a:t>CTFers: LLMs that Learn to Hack and Defend</a:t>
            </a:r>
            <a:br>
              <a:rPr lang="zh-CN" altLang="en-US" sz="4000"/>
            </a:br>
            <a:r>
              <a:rPr lang="zh-CN" altLang="en-US" sz="2700" i="1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US" altLang="zh-CN" sz="2700" i="1">
                <a:latin typeface="Arial" panose="020B0604020202020204" pitchFamily="34" charset="0"/>
                <a:cs typeface="Arial" panose="020B0604020202020204" pitchFamily="34" charset="0"/>
              </a:rPr>
              <a:t>When latent space meets cyberspace</a:t>
            </a:r>
            <a:r>
              <a:rPr lang="zh-CN" altLang="en-US" sz="2700" i="1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endParaRPr lang="zh-CN" altLang="en-US" sz="270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x-none" altLang="zh-CN"/>
              <a:t>Song Xixuan</a:t>
            </a:r>
            <a:endParaRPr lang="x-none" altLang="zh-CN"/>
          </a:p>
          <a:p>
            <a:r>
              <a:rPr lang="en-US">
                <a:sym typeface="+mn-ea"/>
              </a:rPr>
              <a:t>November </a:t>
            </a:r>
            <a:r>
              <a:rPr lang="x-none" altLang="en-US">
                <a:sym typeface="+mn-ea"/>
              </a:rPr>
              <a:t>12</a:t>
            </a:r>
            <a:r>
              <a:rPr lang="en-US">
                <a:sym typeface="+mn-ea"/>
              </a:rPr>
              <a:t>, 2025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songxx21@mails.tsinghua.edu.cn</a:t>
            </a:r>
            <a:endParaRPr lang="en-US"/>
          </a:p>
          <a:p>
            <a:endParaRPr lang="en-US"/>
          </a:p>
          <a:p>
            <a:endParaRPr lang="x-none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4000"/>
              <a:t>Background</a:t>
            </a:r>
            <a:endParaRPr 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2400" b="1"/>
              <a:t>Capture-the-Flag (CTF)</a:t>
            </a:r>
            <a:r>
              <a:rPr lang="en-US" sz="2400"/>
              <a:t> competitions have long been recognized as a gold standard for assessing problem-solving and reasoning skills in cybersecurity.</a:t>
            </a:r>
            <a:r>
              <a:rPr lang="x-none" altLang="en-US" sz="2400"/>
              <a:t> </a:t>
            </a:r>
            <a:r>
              <a:rPr lang="en-US" sz="2400"/>
              <a:t>Each CTF challenge requires a solver to understand complex system behavior, analyze vulnerabilities, craft exploits, or design countermeasures.</a:t>
            </a:r>
            <a:endParaRPr lang="en-US" sz="2400"/>
          </a:p>
          <a:p>
            <a:endParaRPr lang="en-US" sz="2400"/>
          </a:p>
        </p:txBody>
      </p:sp>
      <p:sp>
        <p:nvSpPr>
          <p:cNvPr id="4" name="Text Box 3"/>
          <p:cNvSpPr txBox="1"/>
          <p:nvPr/>
        </p:nvSpPr>
        <p:spPr>
          <a:xfrm>
            <a:off x="647700" y="3653790"/>
            <a:ext cx="5194935" cy="26765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b="1"/>
              <a:t>Crypto (Cryptography)</a:t>
            </a:r>
            <a:r>
              <a:rPr lang="en-US" sz="2400"/>
              <a:t>: Recover plaintext or keys.</a:t>
            </a:r>
            <a:endParaRPr lang="en-US" sz="24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b="1"/>
              <a:t>Web (Web Security)</a:t>
            </a:r>
            <a:r>
              <a:rPr lang="en-US" sz="2400"/>
              <a:t>: XSS, CSRF, SQL injection, etc.</a:t>
            </a:r>
            <a:endParaRPr lang="en-US" sz="24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b="1"/>
              <a:t>Rev (Reverse Engineering)</a:t>
            </a:r>
            <a:r>
              <a:rPr lang="en-US" sz="2400"/>
              <a:t>: Uncover </a:t>
            </a:r>
            <a:r>
              <a:rPr lang="en-US" sz="2400">
                <a:sym typeface="+mn-ea"/>
              </a:rPr>
              <a:t>vulnerabilities, </a:t>
            </a:r>
            <a:r>
              <a:rPr lang="en-US" sz="2400"/>
              <a:t>hidden details, undocumented features.</a:t>
            </a:r>
            <a:endParaRPr lang="en-US" sz="2400"/>
          </a:p>
        </p:txBody>
      </p:sp>
      <p:sp>
        <p:nvSpPr>
          <p:cNvPr id="5" name="Text Box 4"/>
          <p:cNvSpPr txBox="1"/>
          <p:nvPr/>
        </p:nvSpPr>
        <p:spPr>
          <a:xfrm>
            <a:off x="6347460" y="3653790"/>
            <a:ext cx="5194300" cy="26765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algn="l"/>
            <a:r>
              <a:rPr lang="en-US" sz="2400">
                <a:sym typeface="+mn-ea"/>
              </a:rPr>
              <a:t>• </a:t>
            </a:r>
            <a:r>
              <a:rPr lang="en-US" sz="2400" b="1">
                <a:sym typeface="+mn-ea"/>
              </a:rPr>
              <a:t>Forensics</a:t>
            </a:r>
            <a:r>
              <a:rPr lang="en-US" sz="2400">
                <a:sym typeface="+mn-ea"/>
              </a:rPr>
              <a:t>: Analyze and extract hidden or deleted information.</a:t>
            </a:r>
            <a:endParaRPr lang="en-US" sz="2400"/>
          </a:p>
          <a:p>
            <a:pPr algn="l"/>
            <a:r>
              <a:rPr lang="en-US" sz="2400">
                <a:sym typeface="+mn-ea"/>
              </a:rPr>
              <a:t>• </a:t>
            </a:r>
            <a:r>
              <a:rPr lang="en-US" sz="2400" b="1">
                <a:sym typeface="+mn-ea"/>
              </a:rPr>
              <a:t>Pwn (exploitation)</a:t>
            </a:r>
            <a:r>
              <a:rPr lang="en-US" sz="2400">
                <a:sym typeface="+mn-ea"/>
              </a:rPr>
              <a:t>: Perform privilege escalation, gain shell access, execute code.</a:t>
            </a:r>
            <a:endParaRPr lang="en-US" sz="2400">
              <a:sym typeface="+mn-ea"/>
            </a:endParaRPr>
          </a:p>
          <a:p>
            <a:pPr algn="l"/>
            <a:r>
              <a:rPr lang="en-US" sz="2400">
                <a:sym typeface="+mn-ea"/>
              </a:rPr>
              <a:t>• </a:t>
            </a:r>
            <a:r>
              <a:rPr lang="en-US" sz="2400" b="1">
                <a:sym typeface="+mn-ea"/>
              </a:rPr>
              <a:t>Misc (miscellaneous)</a:t>
            </a:r>
            <a:r>
              <a:rPr lang="en-US" sz="2400">
                <a:sym typeface="+mn-ea"/>
              </a:rPr>
              <a:t>: Identify and exploit other vulnerabilities.</a:t>
            </a:r>
            <a:endParaRPr lang="en-US" sz="2400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en-US" sz="3600">
                <a:sym typeface="+mn-ea"/>
              </a:rPr>
              <a:t>Definition: Belluminar (CTF Adversarial)</a:t>
            </a:r>
            <a:endParaRPr lang="en-US" sz="3600"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47700" y="1825625"/>
                <a:ext cx="5994400" cy="4351655"/>
              </a:xfrm>
            </p:spPr>
            <p:txBody>
              <a:bodyPr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 panose="02040503050406030204" charset="0"/>
                            <a:cs typeface="Cambria Math" panose="02040503050406030204" charset="0"/>
                          </a:rPr>
                          <m:t>ℇ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sup>
                    </m:sSup>
                    <m:r>
                      <a:rPr lang="en-US" sz="2400">
                        <a:latin typeface="Cambria Math" panose="02040503050406030204" charset="0"/>
                        <a:cs typeface="Cambria Math" panose="02040503050406030204" charset="0"/>
                      </a:rPr>
                      <m:t>=(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charset="0"/>
                        <a:cs typeface="Cambria Math" panose="02040503050406030204" charset="0"/>
                      </a:rPr>
                      <m:t>S</m:t>
                    </m:r>
                    <m:r>
                      <a:rPr lang="en-US" sz="2400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charset="0"/>
                            <a:cs typeface="Cambria Math" panose="02040503050406030204" charset="0"/>
                          </a:rPr>
                          <m:t>A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sub>
                    </m:sSub>
                    <m:r>
                      <a:rPr lang="en-US" sz="2400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charset="0"/>
                            <a:cs typeface="Cambria Math" panose="02040503050406030204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charset="0"/>
                            <a:cs typeface="Cambria Math" panose="02040503050406030204" charset="0"/>
                          </a:rPr>
                          <m:t>D</m:t>
                        </m:r>
                      </m:sub>
                    </m:sSub>
                    <m:r>
                      <a:rPr lang="en-US" sz="2400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charset="0"/>
                            <a:cs typeface="Cambria Math" panose="02040503050406030204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charset="0"/>
                            <a:cs typeface="Cambria Math" panose="02040503050406030204" charset="0"/>
                          </a:rPr>
                          <m:t>A</m:t>
                        </m:r>
                      </m:sub>
                    </m:sSub>
                    <m:r>
                      <a:rPr lang="en-US" sz="2400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charset="0"/>
                            <a:cs typeface="Cambria Math" panose="02040503050406030204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charset="0"/>
                            <a:cs typeface="Cambria Math" panose="02040503050406030204" charset="0"/>
                          </a:rPr>
                          <m:t>D</m:t>
                        </m:r>
                      </m:sub>
                    </m:sSub>
                    <m:r>
                      <a:rPr lang="en-US" sz="2400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sz="240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en-US" sz="240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charset="0"/>
                            <a:cs typeface="Cambria Math" panose="02040503050406030204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charset="0"/>
                            <a:cs typeface="Cambria Math" panose="02040503050406030204" charset="0"/>
                          </a:rPr>
                          <m:t>A</m:t>
                        </m:r>
                      </m:sub>
                    </m:sSub>
                    <m:r>
                      <a:rPr lang="en-US" sz="2400">
                        <a:latin typeface="Cambria Math" panose="02040503050406030204" charset="0"/>
                        <a:cs typeface="Cambria Math" panose="02040503050406030204" charset="0"/>
                      </a:rPr>
                      <m:t> = 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charset="0"/>
                            <a:cs typeface="Cambria Math" panose="02040503050406030204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charset="0"/>
                            <a:cs typeface="Cambria Math" panose="02040503050406030204" charset="0"/>
                          </a:rPr>
                          <m:t>D</m:t>
                        </m:r>
                      </m:sub>
                    </m:sSub>
                  </m:oMath>
                </a14:m>
                <a:endParaRPr lang="en-US" sz="240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en-US" sz="240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charset="0"/>
                            <a:cs typeface="Cambria Math" panose="02040503050406030204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charset="0"/>
                            <a:cs typeface="Cambria Math" panose="02040503050406030204" charset="0"/>
                          </a:rPr>
                          <m:t>A</m:t>
                        </m:r>
                      </m:sub>
                    </m:sSub>
                    <m:r>
                      <a:rPr lang="en-US" sz="2400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sub>
                    </m:sSub>
                    <m:r>
                      <a:rPr lang="en-US" sz="2400">
                        <a:latin typeface="Cambria Math" panose="02040503050406030204" charset="0"/>
                        <a:cs typeface="Cambria Math" panose="02040503050406030204" charset="0"/>
                      </a:rPr>
                      <m:t>, 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sub>
                    </m:sSub>
                    <m:r>
                      <a:rPr lang="en-US" sz="2400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  <m:r>
                      <a:rPr lang="en-US" sz="2400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eqArrPr>
                          <m:e>
                            <m:r>
                              <a:rPr lang="en-US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a:rPr lang="en-US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  <m:r>
                              <a:rPr lang="en-US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, </m:t>
                            </m:r>
                            <m:r>
                              <a:rPr lang="en-US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𝑖𝑓</m:t>
                            </m:r>
                            <m:r>
                              <a:rPr lang="en-US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 </m:t>
                            </m:r>
                            <m:r>
                              <a:rPr lang="en-US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𝑒𝑥𝑝𝑙𝑜𝑖𝑡</m:t>
                            </m:r>
                            <m:r>
                              <a:rPr lang="en-US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 </m:t>
                            </m:r>
                            <m:r>
                              <a:rPr lang="en-US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𝑠𝑢𝑐𝑐𝑒𝑒𝑑𝑠</m:t>
                            </m:r>
                          </m:e>
                          <m:e>
                            <m:r>
                              <a:rPr lang="en-US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  <m:r>
                              <a:rPr lang="en-US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, </m:t>
                            </m:r>
                            <m:r>
                              <a:rPr lang="en-US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𝑖𝑓</m:t>
                            </m:r>
                            <m:r>
                              <a:rPr lang="en-US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 </m:t>
                            </m:r>
                            <m:r>
                              <a:rPr lang="en-US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𝑎𝑡𝑡𝑎𝑐𝑘</m:t>
                            </m:r>
                            <m:r>
                              <a:rPr lang="en-US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 </m:t>
                            </m:r>
                            <m:r>
                              <a:rPr lang="en-US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𝑖𝑠</m:t>
                            </m:r>
                            <m:r>
                              <a:rPr lang="en-US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 </m:t>
                            </m:r>
                            <m:r>
                              <a:rPr lang="en-US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𝑏𝑙𝑜𝑐𝑘𝑒𝑑</m:t>
                            </m:r>
                          </m:e>
                        </m:eqArr>
                      </m:e>
                    </m:d>
                  </m:oMath>
                </a14:m>
                <a:endParaRPr lang="en-US" sz="24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en-US" sz="240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sz="2400">
                    <a:latin typeface="Cambria Math" panose="02040503050406030204" charset="0"/>
                    <a:cs typeface="Cambria Math" panose="02040503050406030204" charset="0"/>
                  </a:rPr>
                  <a:t>Optimize with the same GRPO objective:</a:t>
                </a:r>
                <a:endParaRPr lang="en-US" sz="240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charset="0"/>
                          <a:cs typeface="Cambria Math" panose="02040503050406030204" charset="0"/>
                        </a:rPr>
                        <m:t>θ</m:t>
                      </m:r>
                      <m:r>
                        <a:rPr lang="en-US" sz="2400">
                          <a:latin typeface="Cambria Math" panose="02040503050406030204" charset="0"/>
                          <a:cs typeface="Cambria Math" panose="02040503050406030204" charset="0"/>
                        </a:rPr>
                        <m:t> ← 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charset="0"/>
                          <a:cs typeface="Cambria Math" panose="02040503050406030204" charset="0"/>
                        </a:rPr>
                        <m:t>θ</m:t>
                      </m:r>
                      <m:r>
                        <a:rPr lang="en-US" sz="2400">
                          <a:latin typeface="Cambria Math" panose="02040503050406030204" charset="0"/>
                          <a:cs typeface="Cambria Math" panose="02040503050406030204" charset="0"/>
                        </a:rPr>
                        <m:t> + 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charset="0"/>
                          <a:cs typeface="Cambria Math" panose="02040503050406030204" charset="0"/>
                        </a:rPr>
                        <m:t>η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θ</m:t>
                          </m:r>
                        </m:sub>
                      </m:sSub>
                      <m:r>
                        <a:rPr lang="en-US" sz="2400"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charset="0"/>
                          <a:cs typeface="Cambria Math" panose="02040503050406030204" charset="0"/>
                        </a:rPr>
                        <m:t>J</m:t>
                      </m:r>
                      <m:r>
                        <a:rPr lang="en-US" sz="2400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charset="0"/>
                          <a:cs typeface="Cambria Math" panose="02040503050406030204" charset="0"/>
                        </a:rPr>
                        <m:t>θ</m:t>
                      </m:r>
                      <m:r>
                        <a:rPr lang="en-US" sz="2400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sz="240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sz="2400">
                    <a:latin typeface="Cambria Math" panose="02040503050406030204" charset="0"/>
                    <a:cs typeface="Cambria Math" panose="02040503050406030204" charset="0"/>
                  </a:rPr>
                  <a:t>η: learning rate</a:t>
                </a:r>
                <a:endParaRPr lang="en-US" sz="2400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7700" y="1825625"/>
                <a:ext cx="5994400" cy="4351655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255" y="2146935"/>
            <a:ext cx="5132705" cy="37096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Text Box 9"/>
          <p:cNvSpPr txBox="1"/>
          <p:nvPr/>
        </p:nvSpPr>
        <p:spPr>
          <a:xfrm>
            <a:off x="8779510" y="5856605"/>
            <a:ext cx="1052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ym typeface="+mn-ea"/>
              </a:rPr>
              <a:t>CAGE 4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en-US" sz="4000">
                <a:sym typeface="+mn-ea"/>
              </a:rPr>
              <a:t>Background</a:t>
            </a:r>
            <a:endParaRPr 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>
                <a:sym typeface="+mn-ea"/>
              </a:rPr>
              <a:t>Recent studies such as </a:t>
            </a:r>
            <a:r>
              <a:rPr lang="en-US" b="1">
                <a:sym typeface="+mn-ea"/>
              </a:rPr>
              <a:t>NYU CTF Bench</a:t>
            </a:r>
            <a:r>
              <a:rPr lang="x-none" altLang="en-US">
                <a:sym typeface="+mn-ea"/>
              </a:rPr>
              <a:t>  </a:t>
            </a:r>
            <a:r>
              <a:rPr lang="en-US">
                <a:sym typeface="+mn-ea"/>
              </a:rPr>
              <a:t>and </a:t>
            </a:r>
            <a:r>
              <a:rPr lang="en-US" b="1">
                <a:sym typeface="+mn-ea"/>
              </a:rPr>
              <a:t>CyBench</a:t>
            </a:r>
            <a:r>
              <a:rPr lang="x-none" altLang="en-US">
                <a:sym typeface="+mn-ea"/>
              </a:rPr>
              <a:t> </a:t>
            </a:r>
            <a:r>
              <a:rPr lang="en-US">
                <a:sym typeface="+mn-ea"/>
              </a:rPr>
              <a:t>have begun to quantify how well LLMs can perform in this domain. Despite impressive progress in reasoning and coding, even state-of-the-art models like Claude 4.5</a:t>
            </a:r>
            <a:r>
              <a:rPr lang="x-none" altLang="en-US">
                <a:sym typeface="+mn-ea"/>
              </a:rPr>
              <a:t> </a:t>
            </a:r>
            <a:r>
              <a:rPr lang="en-US">
                <a:sym typeface="+mn-ea"/>
              </a:rPr>
              <a:t>achieve only around 55% accuracy.</a:t>
            </a:r>
            <a:endParaRPr lang="en-US"/>
          </a:p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l="892" t="2118"/>
          <a:stretch>
            <a:fillRect/>
          </a:stretch>
        </p:blipFill>
        <p:spPr>
          <a:xfrm>
            <a:off x="7839075" y="3134360"/>
            <a:ext cx="2766060" cy="28759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 Box 4"/>
          <p:cNvSpPr txBox="1"/>
          <p:nvPr/>
        </p:nvSpPr>
        <p:spPr>
          <a:xfrm>
            <a:off x="8896985" y="6072505"/>
            <a:ext cx="1121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ym typeface="+mn-ea"/>
              </a:rPr>
              <a:t>CyBench</a:t>
            </a:r>
            <a:r>
              <a:rPr lang="x-none" altLang="en-US">
                <a:sym typeface="+mn-ea"/>
              </a:rPr>
              <a:t> 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1938655" y="6072505"/>
            <a:ext cx="20472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ym typeface="+mn-ea"/>
              </a:rPr>
              <a:t>NYU CTF Bench</a:t>
            </a: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865" y="3134360"/>
            <a:ext cx="2750820" cy="28759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en-US" sz="4000"/>
              <a:t>Definition: Jeopardy (CTF Solving)</a:t>
            </a:r>
            <a:endParaRPr lang="en-US" sz="4000"/>
          </a:p>
        </p:txBody>
      </p:sp>
      <p:pic>
        <p:nvPicPr>
          <p:cNvPr id="9" name="Content Placeholder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755" y="2139315"/>
            <a:ext cx="6505575" cy="372364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Text Box 9"/>
          <p:cNvSpPr txBox="1"/>
          <p:nvPr/>
        </p:nvSpPr>
        <p:spPr>
          <a:xfrm>
            <a:off x="7644765" y="5862955"/>
            <a:ext cx="2281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ym typeface="+mn-ea"/>
              </a:rPr>
              <a:t>CyBench framework</a:t>
            </a:r>
            <a:r>
              <a:rPr lang="x-none" altLang="en-US">
                <a:sym typeface="+mn-ea"/>
              </a:rPr>
              <a:t> 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 Placeholder 11"/>
              <p:cNvSpPr/>
              <p:nvPr>
                <p:ph idx="1"/>
              </p:nvPr>
            </p:nvSpPr>
            <p:spPr>
              <a:xfrm>
                <a:off x="647700" y="1825625"/>
                <a:ext cx="4927600" cy="4351655"/>
              </a:xfrm>
            </p:spPr>
            <p:txBody>
              <a:bodyPr/>
              <a:p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charset="0"/>
                        <a:cs typeface="Cambria Math" panose="02040503050406030204" charset="0"/>
                      </a:rPr>
                      <m:t>ℇ=(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charset="0"/>
                        <a:cs typeface="Cambria Math" panose="02040503050406030204" charset="0"/>
                      </a:rPr>
                      <m:t>S</m:t>
                    </m:r>
                    <m:r>
                      <a:rPr lang="en-US" sz="2400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charset="0"/>
                        <a:cs typeface="Cambria Math" panose="02040503050406030204" charset="0"/>
                      </a:rPr>
                      <m:t>A</m:t>
                    </m:r>
                    <m:r>
                      <a:rPr lang="en-US" sz="2400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charset="0"/>
                        <a:cs typeface="Cambria Math" panose="02040503050406030204" charset="0"/>
                      </a:rPr>
                      <m:t>P</m:t>
                    </m:r>
                    <m:r>
                      <a:rPr lang="en-US" sz="2400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charset="0"/>
                        <a:cs typeface="Cambria Math" panose="02040503050406030204" charset="0"/>
                      </a:rPr>
                      <m:t>R</m:t>
                    </m:r>
                    <m:r>
                      <a:rPr lang="en-US" sz="2400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charset="0"/>
                        <a:cs typeface="Cambria Math" panose="02040503050406030204" charset="0"/>
                      </a:rPr>
                      <m:t>γ</m:t>
                    </m:r>
                    <m:r>
                      <a:rPr lang="en-US" sz="2400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sz="240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charset="0"/>
                        <a:cs typeface="Cambria Math" panose="02040503050406030204" charset="0"/>
                      </a:rPr>
                      <m:t>S</m:t>
                    </m:r>
                  </m:oMath>
                </a14:m>
                <a:r>
                  <a:rPr lang="en-US" sz="2000"/>
                  <a:t>: state</a:t>
                </a:r>
                <a:endParaRPr lang="en-US" sz="200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charset="0"/>
                        <a:cs typeface="Cambria Math" panose="02040503050406030204" charset="0"/>
                      </a:rPr>
                      <m:t>A</m:t>
                    </m:r>
                  </m:oMath>
                </a14:m>
                <a:r>
                  <a:rPr lang="en-US" sz="2000"/>
                  <a:t>: action space</a:t>
                </a:r>
                <a:endParaRPr lang="en-US" sz="200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charset="0"/>
                        <a:cs typeface="Cambria Math" panose="02040503050406030204" charset="0"/>
                      </a:rPr>
                      <m:t>P</m:t>
                    </m:r>
                    <m:r>
                      <a:rPr lang="en-US" sz="2000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sub>
                    </m:sSub>
                    <m:r>
                      <a:rPr lang="en-US" sz="2000">
                        <a:latin typeface="Cambria Math" panose="02040503050406030204" charset="0"/>
                        <a:cs typeface="Cambria Math" panose="02040503050406030204" charset="0"/>
                      </a:rPr>
                      <m:t>|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𝑡−</m:t>
                        </m:r>
                        <m:r>
                          <a:rPr lang="en-US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sz="2000">
                        <a:latin typeface="Cambria Math" panose="02040503050406030204" charset="0"/>
                        <a:cs typeface="Cambria Math" panose="02040503050406030204" charset="0"/>
                      </a:rPr>
                      <m:t>, 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𝑡−</m:t>
                        </m:r>
                        <m:r>
                          <a:rPr lang="en-US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sz="2000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sz="2000"/>
                  <a:t>: transition function</a:t>
                </a:r>
                <a:endParaRPr lang="en-US" sz="200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charset="0"/>
                        <a:cs typeface="Cambria Math" panose="02040503050406030204" charset="0"/>
                      </a:rPr>
                      <m:t>R</m:t>
                    </m:r>
                    <m:r>
                      <a:rPr lang="en-US" sz="2000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sub>
                    </m:sSub>
                    <m:r>
                      <a:rPr lang="en-US" sz="2000">
                        <a:latin typeface="Cambria Math" panose="02040503050406030204" charset="0"/>
                        <a:cs typeface="Cambria Math" panose="02040503050406030204" charset="0"/>
                      </a:rPr>
                      <m:t>, 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sub>
                    </m:sSub>
                    <m:r>
                      <a:rPr lang="en-US" sz="2000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sz="2000"/>
                  <a:t>: reward function</a:t>
                </a:r>
                <a:endParaRPr lang="en-US" sz="200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charset="0"/>
                        <a:cs typeface="Cambria Math" panose="02040503050406030204" charset="0"/>
                      </a:rPr>
                      <m:t>γ</m:t>
                    </m:r>
                  </m:oMath>
                </a14:m>
                <a:r>
                  <a:rPr lang="en-US" sz="2000"/>
                  <a:t>: discount factor</a:t>
                </a:r>
                <a:endParaRPr lang="en-US" sz="2000"/>
              </a:p>
              <a:p>
                <a:endParaRPr lang="en-US" sz="2400"/>
              </a:p>
              <a:p>
                <a:r>
                  <a:rPr lang="en-US" sz="2400"/>
                  <a:t>Maximize:</a:t>
                </a:r>
                <a:endParaRPr lang="en-US" sz="240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charset="0"/>
                          <a:cs typeface="Cambria Math" panose="02040503050406030204" charset="0"/>
                        </a:rPr>
                        <m:t>J</m:t>
                      </m:r>
                      <m:r>
                        <a:rPr lang="en-US" sz="2400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charset="0"/>
                          <a:cs typeface="Cambria Math" panose="02040503050406030204" charset="0"/>
                        </a:rPr>
                        <m:t>θ</m:t>
                      </m:r>
                      <m:r>
                        <a:rPr lang="en-US" sz="2400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θ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naryPr>
                            <m:sub>
                              <m:r>
                                <a:rPr lang="en-US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γ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𝑅</m:t>
                              </m:r>
                              <m:r>
                                <a:rPr lang="en-US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, 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US" sz="2400"/>
              </a:p>
              <a:p>
                <a:endParaRPr lang="en-US" sz="2400"/>
              </a:p>
            </p:txBody>
          </p:sp>
        </mc:Choice>
        <mc:Fallback>
          <p:sp>
            <p:nvSpPr>
              <p:cNvPr id="12" name="Content Placeholder 1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7700" y="1825625"/>
                <a:ext cx="4927600" cy="4351655"/>
              </a:xfrm>
              <a:blipFill rotWithShape="1">
                <a:blip r:embed="rId2"/>
                <a:stretch>
                  <a:fillRect b="-33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en-US" sz="3600"/>
              <a:t>Related Work: LLMs for Cybersecurity </a:t>
            </a:r>
            <a:endParaRPr lang="en-US" sz="36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sz="2400"/>
              <a:t>Agents:</a:t>
            </a:r>
            <a:endParaRPr lang="en-US" sz="2400"/>
          </a:p>
          <a:p>
            <a:pPr lvl="1"/>
            <a:r>
              <a:rPr lang="en-US" sz="2160"/>
              <a:t>CRAKEN, D-CIPHER, EnIGMA</a:t>
            </a:r>
            <a:endParaRPr lang="en-US" sz="2160"/>
          </a:p>
          <a:p>
            <a:endParaRPr lang="en-US" sz="2400"/>
          </a:p>
          <a:p>
            <a:r>
              <a:rPr lang="en-US" sz="2400"/>
              <a:t>Data:</a:t>
            </a:r>
            <a:endParaRPr lang="en-US" sz="2400"/>
          </a:p>
          <a:p>
            <a:pPr lvl="1"/>
            <a:r>
              <a:rPr lang="en-US" sz="2160"/>
              <a:t>Cyber-Zero (4k trajectory)</a:t>
            </a:r>
            <a:endParaRPr lang="en-US" sz="2160"/>
          </a:p>
          <a:p>
            <a:endParaRPr lang="en-US" sz="2400"/>
          </a:p>
          <a:p>
            <a:r>
              <a:rPr lang="en-US" sz="2400"/>
              <a:t>Environments:</a:t>
            </a:r>
            <a:endParaRPr lang="en-US" sz="2400"/>
          </a:p>
          <a:p>
            <a:pPr lvl="1"/>
            <a:r>
              <a:rPr lang="en-US" sz="2160"/>
              <a:t>CybORG (</a:t>
            </a:r>
            <a:r>
              <a:rPr lang="en-US" sz="2160">
                <a:sym typeface="+mn-ea"/>
              </a:rPr>
              <a:t>Belluminar</a:t>
            </a:r>
            <a:r>
              <a:rPr lang="en-US" sz="2160"/>
              <a:t>), </a:t>
            </a:r>
            <a:r>
              <a:rPr lang="en-US" sz="2160">
                <a:sym typeface="+mn-ea"/>
              </a:rPr>
              <a:t>CTF-DOJO (0.6k)</a:t>
            </a:r>
            <a:endParaRPr lang="en-US" sz="2160"/>
          </a:p>
          <a:p>
            <a:endParaRPr lang="en-US" sz="2400"/>
          </a:p>
          <a:p>
            <a:r>
              <a:rPr lang="en-US" sz="2400"/>
              <a:t>Bench:</a:t>
            </a:r>
            <a:endParaRPr lang="en-US" sz="2400"/>
          </a:p>
          <a:p>
            <a:pPr lvl="1"/>
            <a:r>
              <a:rPr lang="en-US" sz="2160"/>
              <a:t>NYU CTF Bench, CyBench, InterCode-CTF</a:t>
            </a:r>
            <a:endParaRPr lang="en-US" sz="216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2620" y="1203325"/>
            <a:ext cx="5021580" cy="11118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b="59678"/>
          <a:stretch>
            <a:fillRect/>
          </a:stretch>
        </p:blipFill>
        <p:spPr>
          <a:xfrm>
            <a:off x="6992620" y="2387600"/>
            <a:ext cx="5021580" cy="11283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2620" y="3611880"/>
            <a:ext cx="5021580" cy="16452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1985" y="5351145"/>
            <a:ext cx="5022215" cy="14192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en-US" sz="3600">
                <a:sym typeface="+mn-ea"/>
              </a:rPr>
              <a:t>Proposed Method: Data and Baseline</a:t>
            </a:r>
            <a:endParaRPr lang="en-US" sz="36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2400"/>
              <a:t>Frameworks</a:t>
            </a:r>
            <a:endParaRPr lang="en-US" sz="2400"/>
          </a:p>
          <a:p>
            <a:pPr lvl="1"/>
            <a:r>
              <a:rPr lang="en-US" sz="2160">
                <a:sym typeface="+mn-ea"/>
              </a:rPr>
              <a:t>EnIGMA, CyBench, Terminal Agent (</a:t>
            </a:r>
            <a:r>
              <a:rPr lang="en-US" sz="2160">
                <a:sym typeface="+mn-ea"/>
              </a:rPr>
              <a:t>Claude Code</a:t>
            </a:r>
            <a:r>
              <a:rPr lang="en-US" sz="2160">
                <a:sym typeface="+mn-ea"/>
              </a:rPr>
              <a:t>), etc.</a:t>
            </a:r>
            <a:endParaRPr lang="en-US" sz="2160"/>
          </a:p>
          <a:p>
            <a:endParaRPr lang="en-US" sz="2400"/>
          </a:p>
          <a:p>
            <a:r>
              <a:rPr lang="en-US" sz="2400"/>
              <a:t>Models</a:t>
            </a:r>
            <a:endParaRPr lang="en-US" sz="2400"/>
          </a:p>
          <a:p>
            <a:pPr lvl="1"/>
            <a:r>
              <a:rPr lang="en-US" sz="2160">
                <a:sym typeface="+mn-ea"/>
              </a:rPr>
              <a:t>SOTA LLMs (GPT-5 and Claude 4.5)</a:t>
            </a:r>
            <a:endParaRPr lang="en-US" sz="2160"/>
          </a:p>
          <a:p>
            <a:pPr lvl="1"/>
            <a:r>
              <a:rPr lang="en-US" sz="2160">
                <a:sym typeface="+mn-ea"/>
              </a:rPr>
              <a:t>CAGE4 Agents (RL Policy, not LLM)</a:t>
            </a:r>
            <a:endParaRPr lang="en-US" sz="2160">
              <a:sym typeface="+mn-ea"/>
            </a:endParaRPr>
          </a:p>
          <a:p>
            <a:pPr lvl="1"/>
            <a:r>
              <a:rPr lang="en-US" sz="2160"/>
              <a:t>Cyber-Zero, CTF-DOJO</a:t>
            </a:r>
            <a:endParaRPr lang="en-US" sz="2160"/>
          </a:p>
          <a:p>
            <a:endParaRPr lang="en-US" sz="2400"/>
          </a:p>
          <a:p>
            <a:r>
              <a:rPr lang="en-US" sz="2400"/>
              <a:t>Benchmarks:</a:t>
            </a:r>
            <a:endParaRPr lang="en-US" sz="2400"/>
          </a:p>
          <a:p>
            <a:pPr lvl="1"/>
            <a:r>
              <a:rPr lang="en-US" sz="2160">
                <a:sym typeface="+mn-ea"/>
              </a:rPr>
              <a:t>NYU CTF, CyBench, InterCode, AICRYPTO</a:t>
            </a:r>
            <a:endParaRPr lang="en-US" sz="2160">
              <a:sym typeface="+mn-ea"/>
            </a:endParaRPr>
          </a:p>
          <a:p>
            <a:endParaRPr lang="en-US" sz="24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5425" y="1278255"/>
            <a:ext cx="2930525" cy="18383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t="43727" r="41667"/>
          <a:stretch>
            <a:fillRect/>
          </a:stretch>
        </p:blipFill>
        <p:spPr>
          <a:xfrm>
            <a:off x="8661400" y="3180080"/>
            <a:ext cx="3384550" cy="1778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t="39029"/>
          <a:stretch>
            <a:fillRect/>
          </a:stretch>
        </p:blipFill>
        <p:spPr>
          <a:xfrm>
            <a:off x="7024370" y="5021580"/>
            <a:ext cx="5021580" cy="170624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en-US" sz="3600">
                <a:sym typeface="+mn-ea"/>
              </a:rPr>
              <a:t>Proposed Method: CTFers’ 2 </a:t>
            </a:r>
            <a:r>
              <a:rPr lang="en-US" sz="3600"/>
              <a:t>Phase</a:t>
            </a:r>
            <a:endParaRPr lang="en-US" sz="36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4811395" cy="4351655"/>
          </a:xfrm>
        </p:spPr>
        <p:txBody>
          <a:bodyPr/>
          <a:p>
            <a:r>
              <a:rPr lang="en-US" sz="2400"/>
              <a:t>Hack is Defence</a:t>
            </a:r>
            <a:endParaRPr lang="en-US" sz="2400"/>
          </a:p>
          <a:p>
            <a:endParaRPr lang="en-US" sz="2400"/>
          </a:p>
          <a:p>
            <a:r>
              <a:rPr lang="en-US" sz="2400"/>
              <a:t>From </a:t>
            </a:r>
            <a:r>
              <a:rPr lang="en-US" sz="2400">
                <a:sym typeface="+mn-ea"/>
              </a:rPr>
              <a:t>Jeopardy to </a:t>
            </a:r>
            <a:r>
              <a:rPr lang="en-US" sz="2400">
                <a:sym typeface="+mn-ea"/>
              </a:rPr>
              <a:t>Belluminar: </a:t>
            </a:r>
            <a:endParaRPr lang="en-US" sz="2400"/>
          </a:p>
          <a:p>
            <a:pPr marL="914400" lvl="1" indent="-457200">
              <a:buAutoNum type="arabicPeriod"/>
            </a:pPr>
            <a:r>
              <a:rPr lang="en-US" sz="2160"/>
              <a:t>Distillation (</a:t>
            </a:r>
            <a:r>
              <a:rPr lang="en-US" sz="2160">
                <a:sym typeface="+mn-ea"/>
              </a:rPr>
              <a:t>Claude 4.5</a:t>
            </a:r>
            <a:r>
              <a:rPr lang="en-US" sz="2160"/>
              <a:t>)</a:t>
            </a:r>
            <a:endParaRPr lang="en-US" sz="2160"/>
          </a:p>
          <a:p>
            <a:pPr marL="914400" lvl="1" indent="-457200">
              <a:buAutoNum type="arabicPeriod"/>
            </a:pPr>
            <a:r>
              <a:rPr lang="en-US" sz="2160"/>
              <a:t>Single-Agent RL (Dojo)</a:t>
            </a:r>
            <a:endParaRPr lang="en-US" sz="2160"/>
          </a:p>
          <a:p>
            <a:pPr marL="914400" lvl="1" indent="-457200">
              <a:buAutoNum type="arabicPeriod"/>
            </a:pPr>
            <a:r>
              <a:rPr lang="en-US" sz="2160"/>
              <a:t>Multi-Agent RL (CAGE)</a:t>
            </a:r>
            <a:endParaRPr lang="en-US" sz="2160"/>
          </a:p>
          <a:p>
            <a:endParaRPr lang="en-US" sz="2400"/>
          </a:p>
          <a:p>
            <a:r>
              <a:rPr lang="en-US" sz="2400"/>
              <a:t>Belluminar between LLMs:</a:t>
            </a:r>
            <a:endParaRPr lang="en-US" sz="2400"/>
          </a:p>
          <a:p>
            <a:pPr lvl="1"/>
            <a:r>
              <a:rPr lang="en-US" sz="2160">
                <a:sym typeface="+mn-ea"/>
              </a:rPr>
              <a:t>Ours, GPT-5, Claude 4.5, etc.</a:t>
            </a:r>
            <a:endParaRPr lang="en-US" sz="216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b="39731"/>
          <a:stretch>
            <a:fillRect/>
          </a:stretch>
        </p:blipFill>
        <p:spPr>
          <a:xfrm>
            <a:off x="5847715" y="1410335"/>
            <a:ext cx="5861685" cy="25844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t="62017"/>
          <a:stretch>
            <a:fillRect/>
          </a:stretch>
        </p:blipFill>
        <p:spPr>
          <a:xfrm>
            <a:off x="5847715" y="4599305"/>
            <a:ext cx="5861685" cy="1628775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7" name="Down Arrow 6"/>
          <p:cNvSpPr/>
          <p:nvPr/>
        </p:nvSpPr>
        <p:spPr>
          <a:xfrm>
            <a:off x="8638540" y="4111625"/>
            <a:ext cx="279400" cy="3962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en-US" sz="3600"/>
              <a:t>Future: LLM CTF Arena in Cyberspace</a:t>
            </a:r>
            <a:endParaRPr lang="en-US" sz="3600"/>
          </a:p>
        </p:txBody>
      </p:sp>
      <p:sp>
        <p:nvSpPr>
          <p:cNvPr id="12" name="Text Box 11"/>
          <p:cNvSpPr txBox="1"/>
          <p:nvPr/>
        </p:nvSpPr>
        <p:spPr>
          <a:xfrm>
            <a:off x="0" y="6489700"/>
            <a:ext cx="6829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rgbClr val="C00000"/>
                </a:solidFill>
              </a:rPr>
              <a:t>This is just a prototype, the performance is randomly generated.</a:t>
            </a:r>
            <a:endParaRPr lang="en-US">
              <a:solidFill>
                <a:srgbClr val="C00000"/>
              </a:solidFill>
            </a:endParaRPr>
          </a:p>
        </p:txBody>
      </p:sp>
      <p:pic>
        <p:nvPicPr>
          <p:cNvPr id="14" name="Content Placeholder 1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20340" y="1825625"/>
            <a:ext cx="6369685" cy="435165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4000"/>
              <a:t>Thanks</a:t>
            </a:r>
            <a:endParaRPr lang="en-US" sz="4000"/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6465" y="3274060"/>
            <a:ext cx="1663700" cy="221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 Box 6"/>
          <p:cNvSpPr txBox="1"/>
          <p:nvPr/>
        </p:nvSpPr>
        <p:spPr>
          <a:xfrm>
            <a:off x="0" y="6489700"/>
            <a:ext cx="53936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>
                <a:solidFill>
                  <a:schemeClr val="bg1">
                    <a:lumMod val="65000"/>
                  </a:schemeClr>
                </a:solidFill>
              </a:rPr>
              <a:t>You can learn </a:t>
            </a:r>
            <a:r>
              <a:rPr lang="en-US">
                <a:solidFill>
                  <a:schemeClr val="bg1">
                    <a:lumMod val="65000"/>
                  </a:schemeClr>
                </a:solidFill>
                <a:sym typeface="+mn-ea"/>
              </a:rPr>
              <a:t>more </a:t>
            </a:r>
            <a:r>
              <a:rPr lang="en-US">
                <a:solidFill>
                  <a:schemeClr val="bg1">
                    <a:lumMod val="65000"/>
                  </a:schemeClr>
                </a:solidFill>
              </a:rPr>
              <a:t>about CTF at https://ctf-wiki.org</a:t>
            </a:r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610" y="3274060"/>
            <a:ext cx="1837690" cy="22313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 Box 8"/>
          <p:cNvSpPr txBox="1"/>
          <p:nvPr/>
        </p:nvSpPr>
        <p:spPr>
          <a:xfrm>
            <a:off x="1815465" y="5543550"/>
            <a:ext cx="1160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Overwrite</a:t>
            </a:r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3466465" y="5543550"/>
            <a:ext cx="1694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Race condition</a:t>
            </a:r>
            <a:endParaRPr lang="en-US"/>
          </a:p>
        </p:txBody>
      </p:sp>
      <p:pic>
        <p:nvPicPr>
          <p:cNvPr id="18" name="Picture 17" descr="sta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7330" y="3274060"/>
            <a:ext cx="3228340" cy="22313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9" name="Content Placeholder 18"/>
          <p:cNvPicPr>
            <a:picLocks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712835" y="3274060"/>
            <a:ext cx="2168525" cy="22313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" name="Text Box 19"/>
          <p:cNvSpPr txBox="1"/>
          <p:nvPr/>
        </p:nvSpPr>
        <p:spPr>
          <a:xfrm>
            <a:off x="9337675" y="5543550"/>
            <a:ext cx="919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/>
              <a:t>Canary</a:t>
            </a:r>
            <a:endParaRPr lang="en-US"/>
          </a:p>
        </p:txBody>
      </p:sp>
      <p:sp>
        <p:nvSpPr>
          <p:cNvPr id="21" name="Text Box 20"/>
          <p:cNvSpPr txBox="1"/>
          <p:nvPr/>
        </p:nvSpPr>
        <p:spPr>
          <a:xfrm>
            <a:off x="6061710" y="5543550"/>
            <a:ext cx="17195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/>
              <a:t>Stack Overflow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2478</Words>
  <Application>WPS Presentation</Application>
  <PresentationFormat>宽屏</PresentationFormat>
  <Paragraphs>115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Arial Black</vt:lpstr>
      <vt:lpstr>微软雅黑</vt:lpstr>
      <vt:lpstr>宋体</vt:lpstr>
      <vt:lpstr>Arial Unicode MS</vt:lpstr>
      <vt:lpstr>Cambria Math</vt:lpstr>
      <vt:lpstr>BatangChe</vt:lpstr>
      <vt:lpstr>Gubbi</vt:lpstr>
      <vt:lpstr>Cambria</vt:lpstr>
      <vt:lpstr>Office Theme</vt:lpstr>
      <vt:lpstr>CTFers: LLMs that Learn to Hack and Defend</vt:lpstr>
      <vt:lpstr>Background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song</cp:lastModifiedBy>
  <cp:revision>179</cp:revision>
  <dcterms:created xsi:type="dcterms:W3CDTF">2025-11-12T03:02:42Z</dcterms:created>
  <dcterms:modified xsi:type="dcterms:W3CDTF">2025-11-12T03:02:42Z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1033-11.1.0.11719</vt:lpwstr>
  </property>
  <property fmtid="{D5CDD505-2E9C-101B-9397-08002B2CF9AE}" pid="3" name="ICV">
    <vt:lpwstr/>
  </property>
</Properties>
</file>